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1" r:id="rId10"/>
    <p:sldId id="262" r:id="rId11"/>
    <p:sldId id="263" r:id="rId12"/>
    <p:sldId id="264" r:id="rId13"/>
    <p:sldId id="269" r:id="rId14"/>
    <p:sldId id="270" r:id="rId15"/>
    <p:sldId id="265" r:id="rId1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B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85245" autoAdjust="0"/>
  </p:normalViewPr>
  <p:slideViewPr>
    <p:cSldViewPr snapToGrid="0">
      <p:cViewPr varScale="1">
        <p:scale>
          <a:sx n="135" d="100"/>
          <a:sy n="135" d="100"/>
        </p:scale>
        <p:origin x="12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E58557-BCAF-4140-9DE5-84B0C952C510}" type="datetimeFigureOut">
              <a:rPr lang="hu-HU" smtClean="0"/>
              <a:t>2026. 09. 12.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59D21-7AB0-4DF1-BF67-2AFB0A030C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1688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Előadói jegyzet: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 projektünk egy teljesen az alapoktól megírt webáruház, amely az élő asztali szerepjátékok rajongóit célozza meg. Olyan felületet akartunk alkotni, ahol a vásárlók CMS rendszerek (mint a WordPress) lassúsága nélkül, villámgyorsan tudnak válogatni a prémium kiegészítők között."</a:t>
            </a:r>
            <a:endParaRPr lang="hu-H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59D21-7AB0-4DF1-BF67-2AFB0A030C82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3822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Tudatosan nem használtunk nehéz keretrendszereket. A frontend teljesen natív JavaScriptre épül, a backend pedig tiszta PHP. Az adatbázis kommunikációhoz PDO-t használtunk, ami véd a rosszindulatú SQL injekciók ellen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59D21-7AB0-4DF1-BF67-2AFB0A030C82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52531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 adatbázist úgy terveztük, hogy elkerüljük a redundanciát. Külön táblában kezeljük a felhasználókat és a rendeléseket, hogy ha valaki címet vált, a korábbi számlázási adatai érintetlenek maradjanak a rendszerben. A képgaléria is egy külön kapcsolótáblát kapott.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59D21-7AB0-4DF1-BF67-2AFB0A030C82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1366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frontend legizgalmasabb része a színkörünk, amit tiszta JavaScripttel, trigonometriai számításokkal rajzolunk ki egy tökéletes körbe. A vásárló keresései és kosárba helyezései azonnal, oldalfrissítés nélkül történnek meg. </a:t>
            </a:r>
            <a:br>
              <a:rPr lang="hu-H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59D21-7AB0-4DF1-BF67-2AFB0A030C82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6655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Jegyzetek hely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 webshopban a kockák szín alapján történő szűréséhez nem hagyományos listát, hanem egy vizuálisan vonzó, felugró "színkört" (</a:t>
                </a:r>
                <a:r>
                  <a:rPr lang="hu-H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Wheel) implementáltunk. A kihívást az jelentette, hogy a színeket jelző köröket (</a:t>
                </a:r>
                <a:r>
                  <a:rPr lang="hu-H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dot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dinamikusan, JavaScript segítségével kellett egy tökéletes körív mentén elhelyezni, függetlenül attól, hány színt adunk meg. Ezt trigonometriai függvényekkel (</a:t>
                </a:r>
                <a:r>
                  <a:rPr lang="hu-H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Math.sin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hu-H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Math.cos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oldottuk meg.</a:t>
                </a:r>
                <a:b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b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hu-H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Működési elv: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 kód egy teljes kört (</a:t>
                </a:r>
                <a14:m>
                  <m:oMath xmlns:m="http://schemas.openxmlformats.org/officeDocument/2006/math">
                    <m:r>
                      <a:rPr lang="hu-HU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2</m:t>
                    </m:r>
                    <m:r>
                      <a:rPr lang="hu-HU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𝜋</m:t>
                    </m:r>
                  </m:oMath>
                </a14:m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radián) oszt el a tömbben lévő színek számával, így megkapja az elemek közötti szögtávolságot (</a:t>
                </a:r>
                <a:r>
                  <a:rPr lang="hu-H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angleStep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A </a:t>
                </a:r>
                <a:r>
                  <a:rPr lang="hu-H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forEach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ciklus iterációiban a koszinusz adja meg a vízszintes (X), a szinusz pedig a függőleges (Y) eltolást a középponthoz képest. Ezt követően a DOM-ban létrehoz egy div elemet, abszolút pozicionálással a kiszámolt koordinátákra helyezi, majd hozzárendel egy eseményfigyelőt (</a:t>
                </a:r>
                <a:r>
                  <a:rPr lang="hu-H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Event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hu-H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Listener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ami kattintáskor aktiválja a háttérben lévő rejtett </a:t>
                </a:r>
                <a:r>
                  <a:rPr lang="hu-H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checkboxot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és frissíti a terméklistát.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hu-HU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hu-HU" dirty="0"/>
              </a:p>
            </p:txBody>
          </p:sp>
        </mc:Choice>
        <mc:Fallback>
          <p:sp>
            <p:nvSpPr>
              <p:cNvPr id="3" name="Jegyzetek hely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 webshopban a kockák szín alapján történő szűréséhez nem hagyományos listát, hanem egy vizuálisan vonzó, felugró "színkört" (</a:t>
                </a:r>
                <a:r>
                  <a:rPr lang="hu-H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Wheel) implementáltunk. A kihívást az jelentette, hogy a színeket jelző köröket (</a:t>
                </a:r>
                <a:r>
                  <a:rPr lang="hu-H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dot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dinamikusan, JavaScript segítségével kellett egy tökéletes körív mentén elhelyezni, függetlenül attól, hány színt adunk meg. Ezt trigonometriai függvényekkel (</a:t>
                </a:r>
                <a:r>
                  <a:rPr lang="hu-H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Math.sin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hu-H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Math.cos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oldottuk meg.</a:t>
                </a:r>
                <a:b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b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hu-H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Működési elv: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 kód egy teljes kört (</a:t>
                </a:r>
                <a:r>
                  <a:rPr lang="hu-HU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2𝜋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radián) oszt el a tömbben lévő színek számával, így megkapja az elemek közötti szögtávolságot (</a:t>
                </a:r>
                <a:r>
                  <a:rPr lang="hu-H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angleStep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A </a:t>
                </a:r>
                <a:r>
                  <a:rPr lang="hu-H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forEach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ciklus iterációiban a koszinusz adja meg a vízszintes (X), a szinusz pedig a függőleges (Y) eltolást a középponthoz képest. Ezt követően a DOM-ban létrehoz egy div elemet, abszolút pozicionálással a kiszámolt koordinátákra helyezi, majd hozzárendel egy eseményfigyelőt (</a:t>
                </a:r>
                <a:r>
                  <a:rPr lang="hu-H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Event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hu-H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Listener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ami kattintáskor aktiválja a háttérben lévő rejtett </a:t>
                </a:r>
                <a:r>
                  <a:rPr lang="hu-H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checkboxot</a:t>
                </a:r>
                <a:r>
                  <a:rPr lang="hu-H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és frissíti a terméklistát.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hu-HU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hu-HU" dirty="0"/>
              </a:p>
            </p:txBody>
          </p:sp>
        </mc:Fallback>
      </mc:AlternateContent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59D21-7AB0-4DF1-BF67-2AFB0A030C82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9486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rendszer legkritikusabb pontja a rendelés leadása. Itt a böngésző memóriájában (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LocalStorage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tárolt kosár adatainak találkoznia kell a felhasználó által beírt űrlapadatokkal, majd ezt egy aszinkron HTTP kérésen (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Fetch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API) keresztül el kell juttatni a PHP backendhez, ahol tranzakció-biztos módon bekerül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MySQL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adatbázisba.</a:t>
            </a:r>
            <a:b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Működési elv: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backend védekezik a hálózati megszakadások és inkonzisztens adatok ellen. A $db-&gt;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beginTransaction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használatával a PHP "felfüggeszti" az adatok azonnali kiírását. Csak akkor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hívódik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meg a $db-&gt;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(), ha mind a rendelés adatai, mind a tételek felvétele, mind pedig a raktárkészlet csökkentése hiba nélkül lefutott. Ha bármelyik lépésnél kivétel (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Exception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keletkezik (például időközben elfogyott a termék), a $db-&gt;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rollBack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azonnal visszacsinálja a folyamatot, így nem jöhet létre "üres" rendelés a rendszerben.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59D21-7AB0-4DF1-BF67-2AFB0A030C82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70974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backendünk legbüszkébb pillanata a fizetés feldolgozása. Tranzakciókat használunk: ha a rendelés mentése közben hiba lép fel, a rendszer mindent visszavon (</a:t>
            </a:r>
            <a:r>
              <a:rPr lang="hu-HU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rollBack</a:t>
            </a:r>
            <a:r>
              <a:rPr lang="hu-H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így nem keletkezhetnek félig lementett, hibás rendelések az adatbázisban.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59D21-7AB0-4DF1-BF67-2AFB0A030C82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3873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Ezen a ponton röviden élőben is megmutatjuk a webshopot, a képernyőképeken látható tiszta, reszponzív dizájnunk és az Adminisztrációs vezérlőpultunk.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59D21-7AB0-4DF1-BF67-2AFB0A030C82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489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Bár a rendszer stabil és piacképes, már megvannak a tervek a következő verzióra. Egy fizetési kapu és egy automatikus e-mail küldő rendszer beépítésével teljesen automatizálható lenne a kereskedelmi folyamat.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59D21-7AB0-4DF1-BF67-2AFB0A030C82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2091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feladatokat próbáltuk az erősségeink szerint elosztani, így megvalósult a klasszikus frontend-backend munkamegosztás. Ennek ellenére a modulok összekötését (az API hívásokat) közösen csináltuk, sokat tanultunk egymástól a projekt alatt.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59D21-7AB0-4DF1-BF67-2AFB0A030C82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54304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59D21-7AB0-4DF1-BF67-2AFB0A030C82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8585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74A5252-CDAF-08E5-8959-CB3D0188A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572CBCD-C278-226E-A1A0-93C49BD88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B612F17-C9F0-03D4-921A-19FE59086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2BC5D-4CC8-4E03-8B67-00CE86BA8A80}" type="datetimeFigureOut">
              <a:rPr lang="hu-HU" smtClean="0"/>
              <a:t>2026. 09. 12.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CCD252F-DFF3-361F-AC6B-FEE038A40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D01D5C0-03D3-E2FA-8FD1-6C86BFD98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9A48-3580-49BE-BD5D-450C05A28A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9082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6DEF0B-DD35-6B74-5910-EF1E09D6B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5A7756-F75F-684E-BCB4-4DF64E748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CB1556A-F81E-4745-E0C8-3F419C8E9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2BC5D-4CC8-4E03-8B67-00CE86BA8A80}" type="datetimeFigureOut">
              <a:rPr lang="hu-HU" smtClean="0"/>
              <a:t>2026. 09. 12.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5AF22E1-D28A-202E-B321-0740D5EDE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8578499-F254-D6D9-A8DF-7AF34C29E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9A48-3580-49BE-BD5D-450C05A28A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3150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A3E9406-2BA3-D773-8172-1C9CFB4C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965B297-9813-4DED-1B74-9CE769D82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E054D46-BA19-8E93-21A2-EF0B258BB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2BC5D-4CC8-4E03-8B67-00CE86BA8A80}" type="datetimeFigureOut">
              <a:rPr lang="hu-HU" smtClean="0"/>
              <a:t>2026. 09. 12.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833C97A-26FD-8F01-2372-5C79D3D9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A78D4E9-D387-503B-7EA0-7AE42DE18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9A48-3580-49BE-BD5D-450C05A28A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5020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A9492D-A2DB-C687-66E4-95A6ED0D4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561A39B-B823-53E1-0E4A-5817BE8A26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A5181EB-C76A-7ABE-8164-91D1CDFAC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F93F092-71DC-0913-DFB4-069E02F63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2BC5D-4CC8-4E03-8B67-00CE86BA8A80}" type="datetimeFigureOut">
              <a:rPr lang="hu-HU" smtClean="0"/>
              <a:t>2026. 09. 12.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25441A8-C5D6-BBC5-44D3-7428563AC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99CAFCC-7E4D-CA1A-7A31-47507F365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9A48-3580-49BE-BD5D-450C05A28A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1751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2838A2-9DBE-81CF-505C-E67E8458A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DF7C9D9-AF3F-1C7F-3D06-79C0C7233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A83DECA-6128-E5B8-7201-C0F9F3823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DB3D2D7-6055-1FB0-FAA4-4BFCEF80AC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A1258B4C-A45E-18A3-DD80-027276F443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45E0B2C7-E027-52CF-4A5B-F33B598D3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2BC5D-4CC8-4E03-8B67-00CE86BA8A80}" type="datetimeFigureOut">
              <a:rPr lang="hu-HU" smtClean="0"/>
              <a:t>2026. 09. 12.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E52A71DB-B608-A224-FC79-8E84BDB89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B3C1EB6C-6EEC-BB64-D869-1E728E8E9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9A48-3580-49BE-BD5D-450C05A28A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01539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DFEE3A-1ACA-74FA-93AC-EBA24EF3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B3D87EBF-5A41-8AAB-D22A-7B0F8E2AE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2BC5D-4CC8-4E03-8B67-00CE86BA8A80}" type="datetimeFigureOut">
              <a:rPr lang="hu-HU" smtClean="0"/>
              <a:t>2026. 09. 12.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45273145-58FD-64E5-5DD9-451796168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6EFD76D-0F18-E12B-9ABE-619441A9A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9A48-3580-49BE-BD5D-450C05A28A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2558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54BD4CFE-CEC3-C15E-5F32-0DEF7CA35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2BC5D-4CC8-4E03-8B67-00CE86BA8A80}" type="datetimeFigureOut">
              <a:rPr lang="hu-HU" smtClean="0"/>
              <a:t>2026. 09. 12.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322649A-EBE3-2FF8-921D-ACFE11305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28818FF-2EA9-7959-215E-313BA6035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9A48-3580-49BE-BD5D-450C05A28A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61931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15053B-5953-A9B9-89CB-E5D06D468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CCD8797-BBDA-A17E-DEA6-81F26EF6E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4BDEF6E-5693-2800-1B71-2B73B02D9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055803E-A2FB-A1D1-6602-D140295EB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2BC5D-4CC8-4E03-8B67-00CE86BA8A80}" type="datetimeFigureOut">
              <a:rPr lang="hu-HU" smtClean="0"/>
              <a:t>2026. 09. 12.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C67B774-E116-54D8-2DB1-7EBDC007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CA78C2E-2553-A961-309B-65FD0FB4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9A48-3580-49BE-BD5D-450C05A28A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890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4A3B84-AC5D-2D00-3691-EF5CD18C0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3C752FE2-37D5-FF9E-1A0D-F5411FF337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56F7824-8761-85C6-A1BC-B3DA56EA5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65CF734-8E6F-1847-A1B0-AA0504A3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2BC5D-4CC8-4E03-8B67-00CE86BA8A80}" type="datetimeFigureOut">
              <a:rPr lang="hu-HU" smtClean="0"/>
              <a:t>2026. 09. 12.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5367DCB-230C-33F0-A761-D6741A50B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D416730-9A01-4793-87A2-F49B2CCA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9A48-3580-49BE-BD5D-450C05A28A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9155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BBCC0E-7B17-7BF2-2B60-73E0F8EC0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E4B4D5A-4253-EFDB-CB9D-CA727C9AF5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797EDD7-2431-EEE1-17EF-552324F8D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2BC5D-4CC8-4E03-8B67-00CE86BA8A80}" type="datetimeFigureOut">
              <a:rPr lang="hu-HU" smtClean="0"/>
              <a:t>2026. 09. 12.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47C83E0-D977-0E73-CA0E-4EBB45DA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C567EDC-D667-B33F-67CB-1C24082CE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9A48-3580-49BE-BD5D-450C05A28A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4570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B6A5EA97-C9DA-CEFD-87C1-6D6BAABD2F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0F49A8C-50BF-9816-EA6B-C60DDB3FE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78764F1-7F48-0EDF-B350-7B003664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2BC5D-4CC8-4E03-8B67-00CE86BA8A80}" type="datetimeFigureOut">
              <a:rPr lang="hu-HU" smtClean="0"/>
              <a:t>2026. 09. 12.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16433D1-0C93-34FE-0357-AD1476545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E16C90B-3366-ABE8-EDB3-3E8A16DDB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9A48-3580-49BE-BD5D-450C05A28A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193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BA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6676165-3F89-CDF0-C658-96498261F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B351F17-8BD2-BEA7-8497-824E49C71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CE5B02E-8B8E-726D-F5FE-9E967944D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2BC5D-4CC8-4E03-8B67-00CE86BA8A80}" type="datetimeFigureOut">
              <a:rPr lang="hu-HU" smtClean="0"/>
              <a:t>2026. 09. 12.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5D26403-BD91-7957-3917-00B0F0A73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B2A3E3D-C098-5363-AAE0-E992132EF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F9A48-3580-49BE-BD5D-450C05A28A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8557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EE482F-5C80-F122-4DF8-361BA3C637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b="1" dirty="0"/>
              <a:t>RPG Kocka – Prémium Kockaszett Webáruház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917DB60-0239-0483-6162-156D29BC19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Egyedi fejlesztésű, </a:t>
            </a:r>
            <a:r>
              <a:rPr lang="hu-HU" dirty="0" err="1"/>
              <a:t>full-stack</a:t>
            </a:r>
            <a:r>
              <a:rPr lang="hu-HU" dirty="0"/>
              <a:t> e-kereskedelmi platform</a:t>
            </a:r>
          </a:p>
          <a:p>
            <a:r>
              <a:rPr lang="hu-HU" dirty="0"/>
              <a:t>Készítették: Szabó Ádám &amp; Szegő Domokos</a:t>
            </a:r>
          </a:p>
        </p:txBody>
      </p:sp>
    </p:spTree>
    <p:extLst>
      <p:ext uri="{BB962C8B-B14F-4D97-AF65-F5344CB8AC3E}">
        <p14:creationId xmlns:p14="http://schemas.microsoft.com/office/powerpoint/2010/main" val="3824219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6E5F27-A721-6277-C9EC-9D164655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A Projekt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1117FA4-75D1-232E-6B47-7A0556FA1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hu-HU" dirty="0"/>
              <a:t>Webáruház asztali szerepjáték (RPG) kiegészítőkre</a:t>
            </a:r>
          </a:p>
          <a:p>
            <a:pPr lvl="1"/>
            <a:r>
              <a:rPr lang="hu-HU" dirty="0"/>
              <a:t>Fókuszban a 7-darabos prémium kockaszettek.</a:t>
            </a:r>
          </a:p>
          <a:p>
            <a:pPr lvl="1"/>
            <a:r>
              <a:rPr lang="hu-HU" dirty="0"/>
              <a:t>Célközönség: Kalandmesterek, játékosok és ajándékkeresők.</a:t>
            </a:r>
          </a:p>
          <a:p>
            <a:pPr lvl="1"/>
            <a:r>
              <a:rPr lang="hu-HU" dirty="0"/>
              <a:t>Célkitűzés: Gyors, aszinkron és felhasználóbarát vásárlási élmény létrehozása.</a:t>
            </a:r>
          </a:p>
        </p:txBody>
      </p:sp>
    </p:spTree>
    <p:extLst>
      <p:ext uri="{BB962C8B-B14F-4D97-AF65-F5344CB8AC3E}">
        <p14:creationId xmlns:p14="http://schemas.microsoft.com/office/powerpoint/2010/main" val="2967407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91F0EB5-FA55-41AB-DDE5-A47ADD029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Alkalmazott Technológiák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7A5F057-70D1-0178-53E8-C5983094C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hu-HU" b="1" dirty="0"/>
              <a:t>Frontend:</a:t>
            </a:r>
            <a:r>
              <a:rPr lang="hu-HU" dirty="0"/>
              <a:t> HTML5, CSS3 (</a:t>
            </a:r>
            <a:r>
              <a:rPr lang="hu-HU" dirty="0" err="1"/>
              <a:t>Flexbox</a:t>
            </a:r>
            <a:r>
              <a:rPr lang="hu-HU" dirty="0"/>
              <a:t>/</a:t>
            </a:r>
            <a:r>
              <a:rPr lang="hu-HU" dirty="0" err="1"/>
              <a:t>Grid</a:t>
            </a:r>
            <a:r>
              <a:rPr lang="hu-HU" dirty="0"/>
              <a:t>), </a:t>
            </a:r>
            <a:r>
              <a:rPr lang="hu-HU" dirty="0" err="1"/>
              <a:t>Vanilla</a:t>
            </a:r>
            <a:r>
              <a:rPr lang="hu-HU" dirty="0"/>
              <a:t> JavaScript (ES6+).</a:t>
            </a:r>
          </a:p>
          <a:p>
            <a:pPr lvl="1"/>
            <a:r>
              <a:rPr lang="hu-HU" b="1" dirty="0"/>
              <a:t>Backend:</a:t>
            </a:r>
            <a:r>
              <a:rPr lang="hu-HU" dirty="0"/>
              <a:t> PHP (API végpontok, OOP és procedurális).</a:t>
            </a:r>
          </a:p>
          <a:p>
            <a:pPr lvl="1"/>
            <a:r>
              <a:rPr lang="hu-HU" b="1" dirty="0"/>
              <a:t>Adatbázis:</a:t>
            </a:r>
            <a:r>
              <a:rPr lang="hu-HU" dirty="0"/>
              <a:t> </a:t>
            </a:r>
            <a:r>
              <a:rPr lang="hu-HU" dirty="0" err="1"/>
              <a:t>MySQL</a:t>
            </a:r>
            <a:r>
              <a:rPr lang="hu-HU" dirty="0"/>
              <a:t> (Relációs adatmodell, </a:t>
            </a:r>
            <a:r>
              <a:rPr lang="hu-HU" dirty="0" err="1"/>
              <a:t>InnoDB</a:t>
            </a:r>
            <a:r>
              <a:rPr lang="hu-HU" dirty="0"/>
              <a:t>).</a:t>
            </a:r>
          </a:p>
          <a:p>
            <a:pPr lvl="1"/>
            <a:r>
              <a:rPr lang="hu-HU" b="1" dirty="0"/>
              <a:t>Kapcsolat:</a:t>
            </a:r>
            <a:r>
              <a:rPr lang="hu-HU" dirty="0"/>
              <a:t> PDO (PHP Data </a:t>
            </a:r>
            <a:r>
              <a:rPr lang="hu-HU" dirty="0" err="1"/>
              <a:t>Objects</a:t>
            </a:r>
            <a:r>
              <a:rPr lang="hu-HU" dirty="0"/>
              <a:t>) a maximális biztonságért.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57459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611D59-1E31-1ACB-64D9-FC3D6A57D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Adatbázis Architektúra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2E67E3C3-A2A9-DCC3-BF15-C43A51291B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82" y="1341531"/>
            <a:ext cx="6438895" cy="4351338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F292AD19-6905-3911-91B1-0C694F79E83F}"/>
              </a:ext>
            </a:extLst>
          </p:cNvPr>
          <p:cNvSpPr txBox="1"/>
          <p:nvPr/>
        </p:nvSpPr>
        <p:spPr>
          <a:xfrm>
            <a:off x="7207624" y="1341531"/>
            <a:ext cx="4914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5 fő tábla: </a:t>
            </a:r>
            <a:r>
              <a:rPr lang="hu-HU" dirty="0" err="1"/>
              <a:t>users</a:t>
            </a:r>
            <a:r>
              <a:rPr lang="hu-HU" dirty="0"/>
              <a:t>, </a:t>
            </a:r>
            <a:r>
              <a:rPr lang="hu-HU" dirty="0" err="1"/>
              <a:t>products</a:t>
            </a:r>
            <a:r>
              <a:rPr lang="hu-HU" dirty="0"/>
              <a:t>, </a:t>
            </a:r>
            <a:r>
              <a:rPr lang="hu-HU" dirty="0" err="1"/>
              <a:t>product_images</a:t>
            </a:r>
            <a:r>
              <a:rPr lang="hu-HU" dirty="0"/>
              <a:t>, </a:t>
            </a:r>
            <a:r>
              <a:rPr lang="hu-HU" dirty="0" err="1"/>
              <a:t>orders</a:t>
            </a:r>
            <a:r>
              <a:rPr lang="hu-HU" dirty="0"/>
              <a:t>, </a:t>
            </a:r>
            <a:r>
              <a:rPr lang="hu-HU" dirty="0" err="1"/>
              <a:t>order_items</a:t>
            </a:r>
            <a:r>
              <a:rPr lang="hu-HU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1:N relációk (pl. Termék -&gt; Képgaléria, Felhasználó -&gt; Rendelések).</a:t>
            </a:r>
          </a:p>
        </p:txBody>
      </p:sp>
    </p:spTree>
    <p:extLst>
      <p:ext uri="{BB962C8B-B14F-4D97-AF65-F5344CB8AC3E}">
        <p14:creationId xmlns:p14="http://schemas.microsoft.com/office/powerpoint/2010/main" val="1202786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47A3B31-D6D5-DCE4-2F6E-88200398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Interaktív Felhasználói Élmény (UX)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20B6604-3946-FD6F-3AF2-E28668FA9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47875"/>
          </a:xfrm>
        </p:spPr>
        <p:txBody>
          <a:bodyPr/>
          <a:lstStyle/>
          <a:p>
            <a:pPr lvl="1"/>
            <a:r>
              <a:rPr lang="hu-HU" b="1" dirty="0"/>
              <a:t>Aszinkron Termékbetöltés:</a:t>
            </a:r>
            <a:r>
              <a:rPr lang="hu-HU" dirty="0"/>
              <a:t> </a:t>
            </a:r>
            <a:r>
              <a:rPr lang="hu-HU" dirty="0" err="1"/>
              <a:t>Fetch</a:t>
            </a:r>
            <a:r>
              <a:rPr lang="hu-HU" dirty="0"/>
              <a:t> API használata oldalfrissítés nélkül.</a:t>
            </a:r>
          </a:p>
          <a:p>
            <a:pPr lvl="1"/>
            <a:r>
              <a:rPr lang="hu-HU" b="1" dirty="0"/>
              <a:t>Interaktív Színkör:</a:t>
            </a:r>
            <a:r>
              <a:rPr lang="hu-HU" dirty="0"/>
              <a:t> Matematikai algoritmus (szinusz/koszinusz) alapján rajzolt vizuális szűrő.</a:t>
            </a:r>
          </a:p>
          <a:p>
            <a:pPr lvl="1"/>
            <a:r>
              <a:rPr lang="hu-HU" b="1" dirty="0"/>
              <a:t>Böngésző Memória (</a:t>
            </a:r>
            <a:r>
              <a:rPr lang="hu-HU" b="1" dirty="0" err="1"/>
              <a:t>LocalStorage</a:t>
            </a:r>
            <a:r>
              <a:rPr lang="hu-HU" b="1" dirty="0"/>
              <a:t>):</a:t>
            </a:r>
            <a:r>
              <a:rPr lang="hu-HU" dirty="0"/>
              <a:t> A kosár tartalmának tartós tárolása kliensoldalon.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9565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BA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zövegdoboz 5">
            <a:extLst>
              <a:ext uri="{FF2B5EF4-FFF2-40B4-BE49-F238E27FC236}">
                <a16:creationId xmlns:a16="http://schemas.microsoft.com/office/drawing/2014/main" id="{070BCBFE-8EEE-C056-CA6D-3B52D3ADD428}"/>
              </a:ext>
            </a:extLst>
          </p:cNvPr>
          <p:cNvSpPr txBox="1"/>
          <p:nvPr/>
        </p:nvSpPr>
        <p:spPr>
          <a:xfrm>
            <a:off x="217396" y="1066801"/>
            <a:ext cx="8617324" cy="560044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hu-HU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[{ 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hu-HU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'Piros'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hu-HU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'#b30000'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},</a:t>
            </a:r>
            <a:r>
              <a:rPr lang="hu-HU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hu-HU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'Kék'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hu-HU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'#0d0dce'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},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{ 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hu-HU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'Zöld'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hu-HU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'#006600'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},</a:t>
            </a:r>
            <a:r>
              <a:rPr lang="hu-HU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hu-HU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'Fekete'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hu-HU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'#111111'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},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{ 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hu-HU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'Lila'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hu-HU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'#4b0082'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},</a:t>
            </a:r>
            <a:r>
              <a:rPr lang="hu-HU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hu-HU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'Fehér'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hu-HU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'#fffff0'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},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{ 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hu-HU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'Citromsárga'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hu-HU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'#f4f423'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},</a:t>
            </a:r>
            <a:r>
              <a:rPr lang="hu-HU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hu-HU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'Narancs'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hu-HU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'#ffbc35'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},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{ 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hu-HU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'Rózsaszín'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hu-HU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'#d867f1'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},</a:t>
            </a:r>
            <a:r>
              <a:rPr lang="hu-HU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hu-HU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'Arany'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hu-HU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'#e7c91e'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}, ];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hu-HU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hu-HU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130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hu-HU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angleStep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hu-HU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colorCircle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 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hu-HU" sz="10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hu-HU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{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hu-HU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angle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angleStep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hu-HU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angle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hu-HU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angle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hu-HU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hu-HU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'div'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szinElem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backgroundColor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.hex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hu-HU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hu-HU" sz="10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hu-HU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hu-HU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hu-HU" sz="10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hu-HU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.name;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5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hu-HU" sz="8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Eseményfigyelő hozzáadása a szűréshez</a:t>
            </a:r>
            <a:endParaRPr lang="hu-HU" sz="800" dirty="0"/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() </a:t>
            </a:r>
            <a:r>
              <a:rPr lang="hu-HU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{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hu-HU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checkbox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`input[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data-category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szin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"][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hu-HU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hu-HU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hu-HU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"]`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hu-HU" sz="10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checkbox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{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checkbox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.checked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checkbox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.checked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hu-HU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applyFilters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();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popup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remove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active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    }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});</a:t>
            </a:r>
            <a:br>
              <a:rPr lang="hu-HU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colorCircle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appendChild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hu-HU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});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5E5692D5-3599-E9F1-563D-514A7F7A586F}"/>
              </a:ext>
            </a:extLst>
          </p:cNvPr>
          <p:cNvSpPr txBox="1"/>
          <p:nvPr/>
        </p:nvSpPr>
        <p:spPr>
          <a:xfrm>
            <a:off x="217396" y="275665"/>
            <a:ext cx="6869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latin typeface="+mj-lt"/>
              </a:rPr>
              <a:t>Az interaktív színkör logikája</a:t>
            </a: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B651D8FC-928F-88FD-B4FA-B9D363FC72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06" t="21527" r="31113"/>
          <a:stretch>
            <a:fillRect/>
          </a:stretch>
        </p:blipFill>
        <p:spPr>
          <a:xfrm>
            <a:off x="9213850" y="1066801"/>
            <a:ext cx="2597150" cy="316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24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B0237B30-4406-882D-24A2-28D2639E4E58}"/>
              </a:ext>
            </a:extLst>
          </p:cNvPr>
          <p:cNvSpPr txBox="1"/>
          <p:nvPr/>
        </p:nvSpPr>
        <p:spPr>
          <a:xfrm>
            <a:off x="209550" y="203200"/>
            <a:ext cx="570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latin typeface="+mj-lt"/>
              </a:rPr>
              <a:t>Kosár és Pénztár adatáramlás logikája</a:t>
            </a:r>
            <a:endParaRPr lang="hu-HU" sz="2800" dirty="0">
              <a:latin typeface="+mj-lt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1FC733CE-1C74-E7CA-71A8-0239281D5B43}"/>
              </a:ext>
            </a:extLst>
          </p:cNvPr>
          <p:cNvSpPr txBox="1"/>
          <p:nvPr/>
        </p:nvSpPr>
        <p:spPr>
          <a:xfrm>
            <a:off x="209550" y="726420"/>
            <a:ext cx="9083040" cy="489916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hu-HU" sz="2400" b="1" dirty="0">
                <a:solidFill>
                  <a:schemeClr val="bg1"/>
                </a:solidFill>
              </a:rPr>
              <a:t>A kliensoldali kérés összeállítása (app.js - </a:t>
            </a:r>
            <a:r>
              <a:rPr lang="hu-HU" sz="2400" b="1" dirty="0" err="1">
                <a:solidFill>
                  <a:schemeClr val="bg1"/>
                </a:solidFill>
              </a:rPr>
              <a:t>processOrder</a:t>
            </a:r>
            <a:r>
              <a:rPr lang="hu-HU" sz="2400" b="1" dirty="0">
                <a:solidFill>
                  <a:schemeClr val="bg1"/>
                </a:solidFill>
              </a:rPr>
              <a:t> függvény):</a:t>
            </a:r>
            <a:endParaRPr lang="hu-HU" sz="2400" dirty="0">
              <a:solidFill>
                <a:schemeClr val="bg1"/>
              </a:solidFill>
            </a:endParaRPr>
          </a:p>
          <a:p>
            <a:pPr>
              <a:lnSpc>
                <a:spcPct val="113095"/>
              </a:lnSpc>
              <a:buNone/>
            </a:pPr>
            <a:endParaRPr lang="hu-HU" sz="1400" b="0" dirty="0">
              <a:solidFill>
                <a:srgbClr val="FF7B7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4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orderData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{</a:t>
            </a:r>
            <a:endParaRPr lang="hu-HU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hu-HU" sz="14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hu-HU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4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hu-HU" sz="14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4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hu-HU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4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hu-HU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hu-HU" sz="14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  <a:endParaRPr lang="hu-HU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hu-HU" sz="14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hu-HU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4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hu-HU" sz="14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4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hu-HU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4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hu-HU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hu-HU" sz="14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  <a:endParaRPr lang="hu-HU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/* … többi űrlap adat … */</a:t>
            </a:r>
            <a:endParaRPr lang="hu-HU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hu-HU" sz="14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cart</a:t>
            </a:r>
            <a:r>
              <a:rPr lang="hu-HU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4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cart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200" dirty="0">
                <a:solidFill>
                  <a:schemeClr val="bg1"/>
                </a:solidFill>
              </a:rPr>
              <a:t>// A </a:t>
            </a:r>
            <a:r>
              <a:rPr lang="hu-HU" sz="1200" dirty="0" err="1">
                <a:solidFill>
                  <a:schemeClr val="bg1"/>
                </a:solidFill>
              </a:rPr>
              <a:t>LocalStorage-ből</a:t>
            </a:r>
            <a:r>
              <a:rPr lang="hu-HU" sz="1200" dirty="0">
                <a:solidFill>
                  <a:schemeClr val="bg1"/>
                </a:solidFill>
              </a:rPr>
              <a:t> származó JS objektum (tömb)</a:t>
            </a:r>
          </a:p>
          <a:p>
            <a:pPr>
              <a:lnSpc>
                <a:spcPct val="113095"/>
              </a:lnSpc>
              <a:buNone/>
            </a:pPr>
            <a:endParaRPr lang="hu-HU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};</a:t>
            </a:r>
          </a:p>
          <a:p>
            <a:pPr>
              <a:lnSpc>
                <a:spcPct val="100000"/>
              </a:lnSpc>
            </a:pPr>
            <a:endParaRPr lang="hu-HU" sz="20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hu-HU" dirty="0">
                <a:solidFill>
                  <a:schemeClr val="bg1"/>
                </a:solidFill>
              </a:rPr>
              <a:t>// Aszinkron kérés küldése a PHP API-</a:t>
            </a:r>
            <a:r>
              <a:rPr lang="hu-HU" dirty="0" err="1">
                <a:solidFill>
                  <a:schemeClr val="bg1"/>
                </a:solidFill>
              </a:rPr>
              <a:t>nak</a:t>
            </a:r>
            <a:endParaRPr lang="hu-HU" sz="1200" dirty="0">
              <a:solidFill>
                <a:srgbClr val="C9D1D9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hu-HU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4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4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hu-HU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4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hu-HU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hu-HU" sz="14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endpoints</a:t>
            </a:r>
            <a:r>
              <a:rPr lang="hu-HU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hu-HU" sz="14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save_order.php</a:t>
            </a:r>
            <a:r>
              <a:rPr lang="hu-HU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{</a:t>
            </a:r>
            <a:endParaRPr lang="hu-HU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hu-HU" sz="14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hu-HU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'POST'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  <a:endParaRPr lang="hu-HU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hu-HU" sz="14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headers</a:t>
            </a:r>
            <a:r>
              <a:rPr lang="hu-HU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{</a:t>
            </a:r>
            <a:endParaRPr lang="hu-HU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hu-HU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4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Content-Type</a:t>
            </a:r>
            <a:r>
              <a:rPr lang="hu-HU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4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application</a:t>
            </a:r>
            <a:r>
              <a:rPr lang="hu-HU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hu-HU" sz="14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hu-HU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endParaRPr lang="hu-HU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    },</a:t>
            </a:r>
            <a:endParaRPr lang="hu-HU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    body</a:t>
            </a:r>
            <a:r>
              <a:rPr lang="hu-HU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4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hu-HU" sz="14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4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stringify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hu-HU" sz="14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orderData</a:t>
            </a: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  <a:endParaRPr lang="hu-HU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});</a:t>
            </a:r>
            <a:endParaRPr lang="hu-HU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hu-HU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332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22BFA393-800F-80C6-08F6-DBFBF86BDC53}"/>
              </a:ext>
            </a:extLst>
          </p:cNvPr>
          <p:cNvSpPr txBox="1"/>
          <p:nvPr/>
        </p:nvSpPr>
        <p:spPr>
          <a:xfrm>
            <a:off x="217170" y="246361"/>
            <a:ext cx="11670030" cy="576927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hu-HU" sz="1050" b="1" dirty="0">
                <a:solidFill>
                  <a:schemeClr val="bg1"/>
                </a:solidFill>
              </a:rPr>
              <a:t>A szerveroldali feldolgozás és tranzakció (</a:t>
            </a:r>
            <a:r>
              <a:rPr lang="hu-HU" sz="1050" b="1" dirty="0" err="1">
                <a:solidFill>
                  <a:schemeClr val="bg1"/>
                </a:solidFill>
              </a:rPr>
              <a:t>save_order.php</a:t>
            </a:r>
            <a:r>
              <a:rPr lang="hu-HU" sz="1050" b="1" dirty="0">
                <a:solidFill>
                  <a:schemeClr val="bg1"/>
                </a:solidFill>
              </a:rPr>
              <a:t> koncepció):</a:t>
            </a:r>
            <a:r>
              <a:rPr lang="hu-HU" sz="1050" dirty="0">
                <a:solidFill>
                  <a:schemeClr val="bg1"/>
                </a:solidFill>
              </a:rPr>
              <a:t> Amikor a JavaScript elküldi a </a:t>
            </a:r>
            <a:r>
              <a:rPr lang="hu-HU" sz="1050" dirty="0" err="1">
                <a:solidFill>
                  <a:schemeClr val="bg1"/>
                </a:solidFill>
              </a:rPr>
              <a:t>JSON.stringify</a:t>
            </a:r>
            <a:r>
              <a:rPr lang="hu-HU" sz="1050" dirty="0">
                <a:solidFill>
                  <a:schemeClr val="bg1"/>
                </a:solidFill>
              </a:rPr>
              <a:t> segítségével becsomagolt adatokat, a PHP a </a:t>
            </a:r>
            <a:r>
              <a:rPr lang="hu-HU" sz="1050" dirty="0" err="1">
                <a:solidFill>
                  <a:schemeClr val="bg1"/>
                </a:solidFill>
              </a:rPr>
              <a:t>file_get_contents</a:t>
            </a:r>
            <a:r>
              <a:rPr lang="hu-HU" sz="1050" dirty="0">
                <a:solidFill>
                  <a:schemeClr val="bg1"/>
                </a:solidFill>
              </a:rPr>
              <a:t>('php://input') metódussal olvassa ki azt.</a:t>
            </a:r>
          </a:p>
          <a:p>
            <a:endParaRPr lang="hu-HU" sz="1050" dirty="0">
              <a:solidFill>
                <a:schemeClr val="bg1"/>
              </a:solidFill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dirty="0">
                <a:solidFill>
                  <a:schemeClr val="bg1"/>
                </a:solidFill>
              </a:rPr>
              <a:t>// Adatbázis tranzakció indítása a konzisztencia érdekében</a:t>
            </a:r>
            <a:br>
              <a:rPr lang="hu-HU" sz="1000" dirty="0">
                <a:solidFill>
                  <a:schemeClr val="bg1"/>
                </a:solidFill>
              </a:rPr>
            </a:b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$db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beginTransaction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1. Rendelés alapadatainak beszúrása az '</a:t>
            </a:r>
            <a:r>
              <a:rPr lang="hu-HU" sz="1000" b="0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hu-HU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' táblába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$db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sz="1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prepare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INSERT INTO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vezeteknev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, email, 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vegosszeg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hu-HU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(: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vnev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, :email, :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osszeg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vnev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=&gt;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':email'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=&gt;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osszeg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=&gt;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vegosszeg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order_id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$db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lastInsertId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hu-HU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Lekérjük a friss rendelés azonosítóját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2. A kosár tételeinek </a:t>
            </a:r>
            <a:r>
              <a:rPr lang="hu-HU" sz="1000" b="0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végigiterálása</a:t>
            </a:r>
            <a:r>
              <a:rPr lang="hu-HU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és beszúrása az '</a:t>
            </a:r>
            <a:r>
              <a:rPr lang="hu-HU" sz="1000" b="0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order_items</a:t>
            </a:r>
            <a:r>
              <a:rPr lang="hu-HU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' táblába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itemStmt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$db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sz="1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prepare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INSERT INTO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order_items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order_id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termek_id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, darab, 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egysegar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hu-HU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(:</a:t>
            </a:r>
            <a:r>
              <a:rPr lang="hu-HU" sz="1000" b="0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oid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, :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tid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, :db, :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3. Készlet csökkentése a '</a:t>
            </a:r>
            <a:r>
              <a:rPr lang="hu-HU" sz="1000" b="0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hu-HU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' táblában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stockStmt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$db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sz="1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prepare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keszlet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keszlet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:db </a:t>
            </a:r>
            <a:r>
              <a:rPr lang="hu-HU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: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tid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hu-HU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sz="10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cart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itemStmt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oid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=&gt;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order_id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tid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=&gt;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':db'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=&gt;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=&gt;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stockStmt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':db'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=&gt;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tid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=&gt;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Ha idáig minden SQL parancs hiba nélkül lefutott, véglegesítjük az adatbázisban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$db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json_encode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"status"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=&gt;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success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hu-HU" sz="10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hu-HU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$e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Ha bármi hiba történik (pl. nincs elég készlet), visszavonjuk az ÖSSZES fenti SQL műveletet!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$db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rollBack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http_response_code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hu-HU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json_encode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=&gt; </a:t>
            </a:r>
            <a:r>
              <a:rPr lang="hu-HU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"Hiba a rendelés feldolgozásakor."</a:t>
            </a: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hu-HU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hu-HU" sz="1000" dirty="0">
              <a:solidFill>
                <a:schemeClr val="bg1"/>
              </a:solidFill>
            </a:endParaRPr>
          </a:p>
          <a:p>
            <a:endParaRPr lang="hu-HU" sz="10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535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8E0B12-30A0-A189-392A-B11BC738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Biztonságos Szerveroldali Logika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0436134-2BE0-460E-7340-14EE37318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hu-HU" b="1" dirty="0"/>
              <a:t>Adatbázis Tranzakciók:</a:t>
            </a:r>
            <a:r>
              <a:rPr lang="hu-HU" dirty="0"/>
              <a:t> Rendelés leadásakor a készlet és a kosár szinkronizálása.</a:t>
            </a:r>
          </a:p>
          <a:p>
            <a:pPr lvl="1"/>
            <a:r>
              <a:rPr lang="hu-HU" b="1" dirty="0"/>
              <a:t>Multi-</a:t>
            </a:r>
            <a:r>
              <a:rPr lang="hu-HU" b="1" dirty="0" err="1"/>
              <a:t>Upload</a:t>
            </a:r>
            <a:r>
              <a:rPr lang="hu-HU" b="1" dirty="0"/>
              <a:t>:</a:t>
            </a:r>
            <a:r>
              <a:rPr lang="hu-HU" dirty="0"/>
              <a:t> Több galériakép egyidejű feltöltése és átnevezése (Time prefix).</a:t>
            </a:r>
          </a:p>
          <a:p>
            <a:pPr lvl="1"/>
            <a:r>
              <a:rPr lang="hu-HU" b="1" dirty="0"/>
              <a:t>Jelszótitkosítás:</a:t>
            </a:r>
            <a:r>
              <a:rPr lang="hu-HU" dirty="0"/>
              <a:t> </a:t>
            </a:r>
            <a:r>
              <a:rPr lang="hu-HU" dirty="0" err="1"/>
              <a:t>Bcrypt</a:t>
            </a:r>
            <a:r>
              <a:rPr lang="hu-HU" dirty="0"/>
              <a:t> algoritmus a felhasználói adatok védelmére.</a:t>
            </a:r>
          </a:p>
        </p:txBody>
      </p:sp>
    </p:spTree>
    <p:extLst>
      <p:ext uri="{BB962C8B-B14F-4D97-AF65-F5344CB8AC3E}">
        <p14:creationId xmlns:p14="http://schemas.microsoft.com/office/powerpoint/2010/main" val="1375718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AD2992-5018-18FD-F18A-A6D48293D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A Rendszer Működés Közben</a:t>
            </a:r>
          </a:p>
        </p:txBody>
      </p:sp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26AB2634-89A0-B339-2647-F9BCA0AF9D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321360"/>
            <a:ext cx="3203459" cy="2440641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B99164FB-4AB2-EF42-CC33-7D78121C50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0127"/>
          <a:stretch>
            <a:fillRect/>
          </a:stretch>
        </p:blipFill>
        <p:spPr>
          <a:xfrm>
            <a:off x="4420068" y="1321360"/>
            <a:ext cx="3383477" cy="2440641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6C100087-5D76-EECA-DD86-7A59E2819C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575"/>
          <a:stretch>
            <a:fillRect/>
          </a:stretch>
        </p:blipFill>
        <p:spPr>
          <a:xfrm>
            <a:off x="838199" y="4460933"/>
            <a:ext cx="3203459" cy="2151413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91742E0C-F6A2-8616-FEF3-C058EA9229D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4730"/>
          <a:stretch>
            <a:fillRect/>
          </a:stretch>
        </p:blipFill>
        <p:spPr>
          <a:xfrm>
            <a:off x="8416129" y="1321360"/>
            <a:ext cx="3550255" cy="2440641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1F07CD1E-7C3F-F3A3-BF28-21F62A1C15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3253" y="3910630"/>
            <a:ext cx="3465489" cy="2697513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DD72662C-72FE-43F4-F1B1-3E776A5661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8461" y="3910630"/>
            <a:ext cx="3847923" cy="269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999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9F8AB7-F78F-25AD-5A79-AF3C14C9F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Továbbfejlesztési Lehetőségek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2EB8ECF-CDDE-E06C-EA3E-BC14302EB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hu-HU" dirty="0"/>
              <a:t>Online bankkártyás fizetés (</a:t>
            </a:r>
            <a:r>
              <a:rPr lang="hu-HU" dirty="0" err="1"/>
              <a:t>Stripe</a:t>
            </a:r>
            <a:r>
              <a:rPr lang="hu-HU" dirty="0"/>
              <a:t> / Barion API).</a:t>
            </a:r>
          </a:p>
          <a:p>
            <a:pPr lvl="1"/>
            <a:r>
              <a:rPr lang="hu-HU" dirty="0"/>
              <a:t>Csomagautomata integráció (Foxpost térkép).</a:t>
            </a:r>
          </a:p>
          <a:p>
            <a:pPr lvl="1"/>
            <a:r>
              <a:rPr lang="hu-HU" dirty="0"/>
              <a:t>Automatikus e-mail értesítések küldése (</a:t>
            </a:r>
            <a:r>
              <a:rPr lang="hu-HU" dirty="0" err="1"/>
              <a:t>PHPMailer</a:t>
            </a:r>
            <a:r>
              <a:rPr lang="hu-HU" dirty="0"/>
              <a:t>).</a:t>
            </a:r>
          </a:p>
          <a:p>
            <a:pPr lvl="1"/>
            <a:r>
              <a:rPr lang="hu-HU" dirty="0"/>
              <a:t>Termékértékelések és csillagos vélemények.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2987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D37BDF-3D58-84D4-6C3E-1D8BF6229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Így dolgoztunk együtt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88B0983-180F-5EEF-8E95-058B310CB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Szabó Ádám: Frontend fejlesztés, UI/UX dizájn, Aszinkron JavaScript, Színkör.</a:t>
            </a:r>
          </a:p>
          <a:p>
            <a:r>
              <a:rPr lang="hu-HU" dirty="0"/>
              <a:t>Szegő Domokos: Backend fejlesztés, </a:t>
            </a:r>
            <a:r>
              <a:rPr lang="hu-HU" dirty="0" err="1"/>
              <a:t>MySQL</a:t>
            </a:r>
            <a:r>
              <a:rPr lang="hu-HU" dirty="0"/>
              <a:t> séma, API végpontok, Biztonság.</a:t>
            </a:r>
          </a:p>
          <a:p>
            <a:r>
              <a:rPr lang="hu-HU" dirty="0"/>
              <a:t>Folyamatos kommunikáció és közös hibakeresés.</a:t>
            </a:r>
          </a:p>
        </p:txBody>
      </p:sp>
    </p:spTree>
    <p:extLst>
      <p:ext uri="{BB962C8B-B14F-4D97-AF65-F5344CB8AC3E}">
        <p14:creationId xmlns:p14="http://schemas.microsoft.com/office/powerpoint/2010/main" val="564782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BE9253F-236D-1C40-9579-4D9765433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386"/>
            <a:ext cx="10515600" cy="1102167"/>
          </a:xfrm>
        </p:spPr>
        <p:txBody>
          <a:bodyPr/>
          <a:lstStyle/>
          <a:p>
            <a:r>
              <a:rPr lang="hu-HU" b="1" dirty="0" err="1"/>
              <a:t>Introduction</a:t>
            </a:r>
            <a:r>
              <a:rPr lang="hu-HU" b="1" dirty="0"/>
              <a:t> and </a:t>
            </a:r>
            <a:r>
              <a:rPr lang="hu-HU" b="1" dirty="0" err="1"/>
              <a:t>Motivation</a:t>
            </a:r>
            <a:r>
              <a:rPr lang="hu-HU" b="1" dirty="0"/>
              <a:t> </a:t>
            </a:r>
            <a:r>
              <a:rPr lang="hu-HU" b="1" dirty="0" err="1"/>
              <a:t>for</a:t>
            </a:r>
            <a:r>
              <a:rPr lang="hu-HU" b="1" dirty="0"/>
              <a:t> </a:t>
            </a:r>
            <a:r>
              <a:rPr lang="hu-HU" b="1" dirty="0" err="1"/>
              <a:t>the</a:t>
            </a:r>
            <a:r>
              <a:rPr lang="hu-HU" b="1" dirty="0"/>
              <a:t> Project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77624F3-20FD-711C-2D51-15E9FBA4F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0586"/>
            <a:ext cx="10515600" cy="501856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hu-HU" dirty="0" err="1"/>
              <a:t>Our</a:t>
            </a:r>
            <a:r>
              <a:rPr lang="hu-HU" dirty="0"/>
              <a:t> project is an online </a:t>
            </a:r>
            <a:r>
              <a:rPr lang="hu-HU" dirty="0" err="1"/>
              <a:t>store</a:t>
            </a:r>
            <a:r>
              <a:rPr lang="hu-HU" dirty="0"/>
              <a:t> </a:t>
            </a:r>
            <a:r>
              <a:rPr lang="hu-HU" dirty="0" err="1"/>
              <a:t>built</a:t>
            </a:r>
            <a:r>
              <a:rPr lang="hu-HU" dirty="0"/>
              <a:t> </a:t>
            </a:r>
            <a:r>
              <a:rPr lang="hu-HU" dirty="0" err="1"/>
              <a:t>entirely</a:t>
            </a:r>
            <a:r>
              <a:rPr lang="hu-HU" dirty="0"/>
              <a:t> </a:t>
            </a:r>
            <a:r>
              <a:rPr lang="hu-HU" dirty="0" err="1"/>
              <a:t>from</a:t>
            </a:r>
            <a:r>
              <a:rPr lang="hu-HU" dirty="0"/>
              <a:t> </a:t>
            </a:r>
            <a:r>
              <a:rPr lang="hu-HU" dirty="0" err="1"/>
              <a:t>scratch</a:t>
            </a:r>
            <a:r>
              <a:rPr lang="hu-HU" dirty="0"/>
              <a:t>, </a:t>
            </a:r>
            <a:r>
              <a:rPr lang="hu-HU" dirty="0" err="1"/>
              <a:t>aimed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fans</a:t>
            </a:r>
            <a:r>
              <a:rPr lang="hu-HU" dirty="0"/>
              <a:t> of </a:t>
            </a:r>
            <a:r>
              <a:rPr lang="hu-HU" dirty="0" err="1"/>
              <a:t>live</a:t>
            </a:r>
            <a:r>
              <a:rPr lang="hu-HU" dirty="0"/>
              <a:t> </a:t>
            </a:r>
            <a:r>
              <a:rPr lang="hu-HU" dirty="0" err="1"/>
              <a:t>tabletop</a:t>
            </a:r>
            <a:r>
              <a:rPr lang="hu-HU" dirty="0"/>
              <a:t> </a:t>
            </a:r>
            <a:r>
              <a:rPr lang="hu-HU" dirty="0" err="1"/>
              <a:t>role</a:t>
            </a:r>
            <a:r>
              <a:rPr lang="hu-HU" dirty="0"/>
              <a:t>-playing games.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wanted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create</a:t>
            </a:r>
            <a:r>
              <a:rPr lang="hu-HU" dirty="0"/>
              <a:t> a platform </a:t>
            </a:r>
            <a:r>
              <a:rPr lang="hu-HU" dirty="0" err="1"/>
              <a:t>where</a:t>
            </a:r>
            <a:r>
              <a:rPr lang="hu-HU" dirty="0"/>
              <a:t> </a:t>
            </a:r>
            <a:r>
              <a:rPr lang="hu-HU" dirty="0" err="1"/>
              <a:t>customers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</a:t>
            </a:r>
            <a:r>
              <a:rPr lang="hu-HU" dirty="0" err="1"/>
              <a:t>browse</a:t>
            </a:r>
            <a:r>
              <a:rPr lang="hu-HU" dirty="0"/>
              <a:t> </a:t>
            </a:r>
            <a:r>
              <a:rPr lang="hu-HU" dirty="0" err="1"/>
              <a:t>through</a:t>
            </a:r>
            <a:r>
              <a:rPr lang="hu-HU" dirty="0"/>
              <a:t> </a:t>
            </a:r>
            <a:r>
              <a:rPr lang="hu-HU" dirty="0" err="1"/>
              <a:t>premium</a:t>
            </a:r>
            <a:r>
              <a:rPr lang="hu-HU" dirty="0"/>
              <a:t> </a:t>
            </a:r>
            <a:r>
              <a:rPr lang="hu-HU" dirty="0" err="1"/>
              <a:t>accessories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lightning</a:t>
            </a:r>
            <a:r>
              <a:rPr lang="hu-HU" dirty="0"/>
              <a:t> </a:t>
            </a:r>
            <a:r>
              <a:rPr lang="hu-HU" dirty="0" err="1"/>
              <a:t>speed</a:t>
            </a:r>
            <a:r>
              <a:rPr lang="hu-HU" dirty="0"/>
              <a:t>, </a:t>
            </a:r>
            <a:r>
              <a:rPr lang="hu-HU" dirty="0" err="1"/>
              <a:t>without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slowness</a:t>
            </a:r>
            <a:r>
              <a:rPr lang="hu-HU" dirty="0"/>
              <a:t> </a:t>
            </a:r>
            <a:r>
              <a:rPr lang="hu-HU" dirty="0" err="1"/>
              <a:t>associated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CMS </a:t>
            </a:r>
            <a:r>
              <a:rPr lang="hu-HU" dirty="0" err="1"/>
              <a:t>systems</a:t>
            </a:r>
            <a:r>
              <a:rPr lang="hu-HU" dirty="0"/>
              <a:t> (</a:t>
            </a:r>
            <a:r>
              <a:rPr lang="hu-HU" dirty="0" err="1"/>
              <a:t>such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WordPress).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en-US" dirty="0"/>
              <a:t>“</a:t>
            </a:r>
            <a:r>
              <a:rPr lang="en-US" b="1" dirty="0"/>
              <a:t>RPG Kocka </a:t>
            </a:r>
            <a:r>
              <a:rPr lang="en-US" b="1" dirty="0" err="1"/>
              <a:t>Webshop</a:t>
            </a:r>
            <a:r>
              <a:rPr lang="en-US" dirty="0"/>
              <a:t>” is a custom-developed, modern e-commerce platform (online store) that specializes exclusively in the sale of premium dice sets used for tabletop role-playing games (such as Dungeons &amp; Dragons).The system is not built on an off-the-shelf content management system (CMS)—such as WordPress or Shopify—but is software written entirely from scratch. The backend logic is written in PHP, which communicates with a relational MySQL database via secure PDO technology. The frontend is a modern, responsive interface that uses asynchronous methods (Fetch API) and custom Vanilla JavaScript solutions, enabling it to filter and display data without reloading, thereby ensuring a seamless and fast user experience (UX). The platform exclusively sells complete 7-piece sets (D4, D6, D8, D10, D12, D20, and D100) made from a variety of high-quality materials.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06256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B1B853-9B8E-8A62-0058-FCC21017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The </a:t>
            </a:r>
            <a:r>
              <a:rPr lang="hu-HU" b="1" dirty="0" err="1"/>
              <a:t>purchasing</a:t>
            </a:r>
            <a:r>
              <a:rPr lang="hu-HU" b="1" dirty="0"/>
              <a:t> </a:t>
            </a:r>
            <a:r>
              <a:rPr lang="hu-HU" b="1" dirty="0" err="1"/>
              <a:t>process</a:t>
            </a:r>
            <a:r>
              <a:rPr lang="hu-HU" dirty="0"/>
              <a:t>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C46A16D-0736-1012-F5FD-12AAF2695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Visitors </a:t>
            </a:r>
            <a:r>
              <a:rPr lang="hu-HU" dirty="0" err="1"/>
              <a:t>can</a:t>
            </a:r>
            <a:r>
              <a:rPr lang="hu-HU" dirty="0"/>
              <a:t> </a:t>
            </a:r>
            <a:r>
              <a:rPr lang="hu-HU" dirty="0" err="1"/>
              <a:t>seamlessly</a:t>
            </a:r>
            <a:r>
              <a:rPr lang="hu-HU" dirty="0"/>
              <a:t> </a:t>
            </a:r>
            <a:r>
              <a:rPr lang="hu-HU" dirty="0" err="1"/>
              <a:t>navigate</a:t>
            </a:r>
            <a:r>
              <a:rPr lang="hu-HU" dirty="0"/>
              <a:t> </a:t>
            </a:r>
            <a:r>
              <a:rPr lang="hu-HU" dirty="0" err="1"/>
              <a:t>from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homepage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shop </a:t>
            </a:r>
            <a:r>
              <a:rPr lang="hu-HU" dirty="0" err="1"/>
              <a:t>section</a:t>
            </a:r>
            <a:r>
              <a:rPr lang="hu-HU" dirty="0"/>
              <a:t>, </a:t>
            </a:r>
            <a:r>
              <a:rPr lang="hu-HU" dirty="0" err="1"/>
              <a:t>where</a:t>
            </a:r>
            <a:r>
              <a:rPr lang="hu-HU" dirty="0"/>
              <a:t> </a:t>
            </a:r>
            <a:r>
              <a:rPr lang="hu-HU" dirty="0" err="1"/>
              <a:t>they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</a:t>
            </a:r>
            <a:r>
              <a:rPr lang="hu-HU" dirty="0" err="1"/>
              <a:t>browse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catalog</a:t>
            </a:r>
            <a:r>
              <a:rPr lang="hu-HU" dirty="0"/>
              <a:t> and add </a:t>
            </a:r>
            <a:r>
              <a:rPr lang="hu-HU" dirty="0" err="1"/>
              <a:t>their</a:t>
            </a:r>
            <a:r>
              <a:rPr lang="hu-HU" dirty="0"/>
              <a:t> </a:t>
            </a:r>
            <a:r>
              <a:rPr lang="hu-HU" dirty="0" err="1"/>
              <a:t>desired</a:t>
            </a:r>
            <a:r>
              <a:rPr lang="hu-HU" dirty="0"/>
              <a:t> </a:t>
            </a:r>
            <a:r>
              <a:rPr lang="hu-HU" dirty="0" err="1"/>
              <a:t>items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shopping </a:t>
            </a:r>
            <a:r>
              <a:rPr lang="hu-HU" dirty="0" err="1"/>
              <a:t>cart</a:t>
            </a:r>
            <a:r>
              <a:rPr lang="hu-HU" dirty="0"/>
              <a:t>. </a:t>
            </a:r>
            <a:r>
              <a:rPr lang="hu-HU" dirty="0" err="1"/>
              <a:t>They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</a:t>
            </a:r>
            <a:r>
              <a:rPr lang="hu-HU" dirty="0" err="1"/>
              <a:t>also</a:t>
            </a:r>
            <a:r>
              <a:rPr lang="hu-HU" dirty="0"/>
              <a:t> </a:t>
            </a:r>
            <a:r>
              <a:rPr lang="hu-HU" dirty="0" err="1"/>
              <a:t>pick</a:t>
            </a:r>
            <a:r>
              <a:rPr lang="hu-HU" dirty="0"/>
              <a:t> </a:t>
            </a:r>
            <a:r>
              <a:rPr lang="hu-HU" dirty="0" err="1"/>
              <a:t>their</a:t>
            </a:r>
            <a:r>
              <a:rPr lang="hu-HU" dirty="0"/>
              <a:t> </a:t>
            </a:r>
            <a:r>
              <a:rPr lang="hu-HU" dirty="0" err="1"/>
              <a:t>favorite</a:t>
            </a:r>
            <a:r>
              <a:rPr lang="hu-HU" dirty="0"/>
              <a:t> </a:t>
            </a:r>
            <a:r>
              <a:rPr lang="hu-HU" dirty="0" err="1"/>
              <a:t>colored</a:t>
            </a:r>
            <a:r>
              <a:rPr lang="hu-HU" dirty="0"/>
              <a:t> </a:t>
            </a:r>
            <a:r>
              <a:rPr lang="hu-HU" dirty="0" err="1"/>
              <a:t>cubes</a:t>
            </a:r>
            <a:r>
              <a:rPr lang="hu-HU" dirty="0"/>
              <a:t> </a:t>
            </a:r>
            <a:r>
              <a:rPr lang="hu-HU" dirty="0" err="1"/>
              <a:t>using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interactive</a:t>
            </a:r>
            <a:r>
              <a:rPr lang="hu-HU" dirty="0"/>
              <a:t> "</a:t>
            </a:r>
            <a:r>
              <a:rPr lang="hu-HU" dirty="0" err="1"/>
              <a:t>color</a:t>
            </a:r>
            <a:r>
              <a:rPr lang="hu-HU" dirty="0"/>
              <a:t> </a:t>
            </a:r>
            <a:r>
              <a:rPr lang="hu-HU" dirty="0" err="1"/>
              <a:t>picker</a:t>
            </a:r>
            <a:r>
              <a:rPr lang="hu-HU" dirty="0"/>
              <a:t> </a:t>
            </a:r>
            <a:r>
              <a:rPr lang="hu-HU" dirty="0" err="1"/>
              <a:t>circle</a:t>
            </a:r>
            <a:r>
              <a:rPr lang="hu-HU" dirty="0"/>
              <a:t>".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dedicated</a:t>
            </a:r>
            <a:r>
              <a:rPr lang="hu-HU" dirty="0"/>
              <a:t> </a:t>
            </a:r>
            <a:r>
              <a:rPr lang="hu-HU" dirty="0" err="1"/>
              <a:t>cart</a:t>
            </a:r>
            <a:r>
              <a:rPr lang="hu-HU" dirty="0"/>
              <a:t> </a:t>
            </a:r>
            <a:r>
              <a:rPr lang="hu-HU" dirty="0" err="1"/>
              <a:t>page</a:t>
            </a:r>
            <a:r>
              <a:rPr lang="hu-HU" dirty="0"/>
              <a:t>, </a:t>
            </a:r>
            <a:r>
              <a:rPr lang="hu-HU" dirty="0" err="1"/>
              <a:t>users</a:t>
            </a:r>
            <a:r>
              <a:rPr lang="hu-HU" dirty="0"/>
              <a:t> </a:t>
            </a:r>
            <a:r>
              <a:rPr lang="hu-HU" dirty="0" err="1"/>
              <a:t>have</a:t>
            </a:r>
            <a:r>
              <a:rPr lang="hu-HU" dirty="0"/>
              <a:t> </a:t>
            </a:r>
            <a:r>
              <a:rPr lang="hu-HU" dirty="0" err="1"/>
              <a:t>full</a:t>
            </a:r>
            <a:r>
              <a:rPr lang="hu-HU" dirty="0"/>
              <a:t> </a:t>
            </a:r>
            <a:r>
              <a:rPr lang="hu-HU" dirty="0" err="1"/>
              <a:t>control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review</a:t>
            </a:r>
            <a:r>
              <a:rPr lang="hu-HU" dirty="0"/>
              <a:t> and </a:t>
            </a:r>
            <a:r>
              <a:rPr lang="hu-HU" dirty="0" err="1"/>
              <a:t>modify</a:t>
            </a:r>
            <a:r>
              <a:rPr lang="hu-HU" dirty="0"/>
              <a:t> </a:t>
            </a:r>
            <a:r>
              <a:rPr lang="hu-HU" dirty="0" err="1"/>
              <a:t>their</a:t>
            </a:r>
            <a:r>
              <a:rPr lang="hu-HU" dirty="0"/>
              <a:t> </a:t>
            </a:r>
            <a:r>
              <a:rPr lang="hu-HU" dirty="0" err="1"/>
              <a:t>selections</a:t>
            </a:r>
            <a:r>
              <a:rPr lang="hu-HU" dirty="0"/>
              <a:t> </a:t>
            </a:r>
            <a:r>
              <a:rPr lang="hu-HU" dirty="0" err="1"/>
              <a:t>before</a:t>
            </a:r>
            <a:r>
              <a:rPr lang="hu-HU" dirty="0"/>
              <a:t> </a:t>
            </a:r>
            <a:r>
              <a:rPr lang="hu-HU" dirty="0" err="1"/>
              <a:t>proceeding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checkout</a:t>
            </a:r>
            <a:r>
              <a:rPr lang="hu-HU" dirty="0"/>
              <a:t>. The </a:t>
            </a:r>
            <a:r>
              <a:rPr lang="hu-HU" dirty="0" err="1"/>
              <a:t>purchasing</a:t>
            </a:r>
            <a:r>
              <a:rPr lang="hu-HU" dirty="0"/>
              <a:t> </a:t>
            </a:r>
            <a:r>
              <a:rPr lang="hu-HU" dirty="0" err="1"/>
              <a:t>process</a:t>
            </a:r>
            <a:r>
              <a:rPr lang="hu-HU" dirty="0"/>
              <a:t> </a:t>
            </a:r>
            <a:r>
              <a:rPr lang="hu-HU" dirty="0" err="1"/>
              <a:t>offers</a:t>
            </a:r>
            <a:r>
              <a:rPr lang="hu-HU" dirty="0"/>
              <a:t> a </a:t>
            </a:r>
            <a:r>
              <a:rPr lang="hu-HU" dirty="0" err="1"/>
              <a:t>flexible</a:t>
            </a:r>
            <a:r>
              <a:rPr lang="hu-HU" dirty="0"/>
              <a:t> </a:t>
            </a:r>
            <a:r>
              <a:rPr lang="hu-HU" dirty="0" err="1"/>
              <a:t>experience</a:t>
            </a:r>
            <a:r>
              <a:rPr lang="hu-HU" dirty="0"/>
              <a:t>: </a:t>
            </a:r>
            <a:r>
              <a:rPr lang="hu-HU" dirty="0" err="1"/>
              <a:t>customers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</a:t>
            </a:r>
            <a:r>
              <a:rPr lang="hu-HU" dirty="0" err="1"/>
              <a:t>choose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complete</a:t>
            </a:r>
            <a:r>
              <a:rPr lang="hu-HU" dirty="0"/>
              <a:t> </a:t>
            </a:r>
            <a:r>
              <a:rPr lang="hu-HU" dirty="0" err="1"/>
              <a:t>their</a:t>
            </a:r>
            <a:r>
              <a:rPr lang="hu-HU" dirty="0"/>
              <a:t> </a:t>
            </a:r>
            <a:r>
              <a:rPr lang="hu-HU" dirty="0" err="1"/>
              <a:t>order</a:t>
            </a:r>
            <a:r>
              <a:rPr lang="hu-HU" dirty="0"/>
              <a:t> </a:t>
            </a:r>
            <a:r>
              <a:rPr lang="hu-HU" dirty="0" err="1"/>
              <a:t>quickly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a </a:t>
            </a:r>
            <a:r>
              <a:rPr lang="hu-HU" dirty="0" err="1"/>
              <a:t>guest</a:t>
            </a:r>
            <a:r>
              <a:rPr lang="hu-HU" dirty="0"/>
              <a:t> </a:t>
            </a:r>
            <a:r>
              <a:rPr lang="hu-HU" dirty="0" err="1"/>
              <a:t>or</a:t>
            </a:r>
            <a:r>
              <a:rPr lang="hu-HU" dirty="0"/>
              <a:t> </a:t>
            </a:r>
            <a:r>
              <a:rPr lang="hu-HU" dirty="0" err="1"/>
              <a:t>create</a:t>
            </a:r>
            <a:r>
              <a:rPr lang="hu-HU" dirty="0"/>
              <a:t> a </a:t>
            </a:r>
            <a:r>
              <a:rPr lang="hu-HU" dirty="0" err="1"/>
              <a:t>registered</a:t>
            </a:r>
            <a:r>
              <a:rPr lang="hu-HU" dirty="0"/>
              <a:t> account. </a:t>
            </a:r>
            <a:r>
              <a:rPr lang="hu-HU" dirty="0" err="1"/>
              <a:t>By</a:t>
            </a:r>
            <a:r>
              <a:rPr lang="hu-HU" dirty="0"/>
              <a:t> </a:t>
            </a:r>
            <a:r>
              <a:rPr lang="hu-HU" dirty="0" err="1"/>
              <a:t>registering</a:t>
            </a:r>
            <a:r>
              <a:rPr lang="hu-HU" dirty="0"/>
              <a:t>, </a:t>
            </a:r>
            <a:r>
              <a:rPr lang="hu-HU" dirty="0" err="1"/>
              <a:t>users</a:t>
            </a:r>
            <a:r>
              <a:rPr lang="hu-HU" dirty="0"/>
              <a:t> </a:t>
            </a:r>
            <a:r>
              <a:rPr lang="hu-HU" dirty="0" err="1"/>
              <a:t>unlock</a:t>
            </a:r>
            <a:r>
              <a:rPr lang="hu-HU" dirty="0"/>
              <a:t> </a:t>
            </a:r>
            <a:r>
              <a:rPr lang="hu-HU" dirty="0" err="1"/>
              <a:t>additional</a:t>
            </a:r>
            <a:r>
              <a:rPr lang="hu-HU" dirty="0"/>
              <a:t> </a:t>
            </a:r>
            <a:r>
              <a:rPr lang="hu-HU" dirty="0" err="1"/>
              <a:t>features</a:t>
            </a:r>
            <a:r>
              <a:rPr lang="hu-HU" dirty="0"/>
              <a:t>, </a:t>
            </a:r>
            <a:r>
              <a:rPr lang="hu-HU" dirty="0" err="1"/>
              <a:t>allowing</a:t>
            </a:r>
            <a:r>
              <a:rPr lang="hu-HU" dirty="0"/>
              <a:t> </a:t>
            </a:r>
            <a:r>
              <a:rPr lang="hu-HU" dirty="0" err="1"/>
              <a:t>them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easily</a:t>
            </a:r>
            <a:r>
              <a:rPr lang="hu-HU" dirty="0"/>
              <a:t> </a:t>
            </a:r>
            <a:r>
              <a:rPr lang="hu-HU" dirty="0" err="1"/>
              <a:t>track</a:t>
            </a:r>
            <a:r>
              <a:rPr lang="hu-HU" dirty="0"/>
              <a:t> </a:t>
            </a:r>
            <a:r>
              <a:rPr lang="hu-HU" dirty="0" err="1"/>
              <a:t>their</a:t>
            </a:r>
            <a:r>
              <a:rPr lang="hu-HU" dirty="0"/>
              <a:t> </a:t>
            </a:r>
            <a:r>
              <a:rPr lang="hu-HU" dirty="0" err="1"/>
              <a:t>current</a:t>
            </a:r>
            <a:r>
              <a:rPr lang="hu-HU" dirty="0"/>
              <a:t> </a:t>
            </a:r>
            <a:r>
              <a:rPr lang="hu-HU" dirty="0" err="1"/>
              <a:t>order</a:t>
            </a:r>
            <a:r>
              <a:rPr lang="hu-HU" dirty="0"/>
              <a:t> status and </a:t>
            </a:r>
            <a:r>
              <a:rPr lang="hu-HU" dirty="0" err="1"/>
              <a:t>review</a:t>
            </a:r>
            <a:r>
              <a:rPr lang="hu-HU" dirty="0"/>
              <a:t> </a:t>
            </a:r>
            <a:r>
              <a:rPr lang="hu-HU" dirty="0" err="1"/>
              <a:t>their</a:t>
            </a:r>
            <a:r>
              <a:rPr lang="hu-HU" dirty="0"/>
              <a:t> </a:t>
            </a:r>
            <a:r>
              <a:rPr lang="hu-HU" dirty="0" err="1"/>
              <a:t>purchase</a:t>
            </a:r>
            <a:r>
              <a:rPr lang="hu-HU" dirty="0"/>
              <a:t> </a:t>
            </a:r>
            <a:r>
              <a:rPr lang="hu-HU" dirty="0" err="1"/>
              <a:t>history</a:t>
            </a:r>
            <a:r>
              <a:rPr lang="hu-HU" dirty="0"/>
              <a:t> </a:t>
            </a:r>
            <a:r>
              <a:rPr lang="hu-HU" dirty="0" err="1"/>
              <a:t>directly</a:t>
            </a:r>
            <a:r>
              <a:rPr lang="hu-HU" dirty="0"/>
              <a:t> </a:t>
            </a:r>
            <a:r>
              <a:rPr lang="hu-HU" dirty="0" err="1"/>
              <a:t>from</a:t>
            </a:r>
            <a:r>
              <a:rPr lang="hu-HU" dirty="0"/>
              <a:t> </a:t>
            </a:r>
            <a:r>
              <a:rPr lang="hu-HU" dirty="0" err="1"/>
              <a:t>their</a:t>
            </a:r>
            <a:r>
              <a:rPr lang="hu-HU" dirty="0"/>
              <a:t> </a:t>
            </a:r>
            <a:r>
              <a:rPr lang="hu-HU" dirty="0" err="1"/>
              <a:t>personal</a:t>
            </a:r>
            <a:r>
              <a:rPr lang="hu-HU" dirty="0"/>
              <a:t> </a:t>
            </a:r>
            <a:r>
              <a:rPr lang="hu-HU" dirty="0" err="1"/>
              <a:t>profile</a:t>
            </a:r>
            <a:r>
              <a:rPr lang="hu-HU" dirty="0"/>
              <a:t> </a:t>
            </a:r>
            <a:r>
              <a:rPr lang="hu-HU" dirty="0" err="1"/>
              <a:t>page</a:t>
            </a:r>
            <a:r>
              <a:rPr lang="hu-H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0060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41F09EE-2DA9-3C75-F1AB-F44C4B779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Köszönjük a figyelmet!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BEFBB21-C304-E9DC-AC06-B405EDF94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59588" cy="4386916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indent="0">
              <a:buNone/>
            </a:pPr>
            <a:r>
              <a:rPr lang="hu-HU" dirty="0" err="1">
                <a:solidFill>
                  <a:schemeClr val="bg1"/>
                </a:solidFill>
              </a:rPr>
              <a:t>Thank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you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for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your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attention</a:t>
            </a:r>
            <a:r>
              <a:rPr lang="hu-HU" dirty="0">
                <a:solidFill>
                  <a:schemeClr val="bg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044400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2123</Words>
  <Application>Microsoft Office PowerPoint</Application>
  <PresentationFormat>Szélesvásznú</PresentationFormat>
  <Paragraphs>144</Paragraphs>
  <Slides>15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Office-téma</vt:lpstr>
      <vt:lpstr>RPG Kocka – Prémium Kockaszett Webáruház</vt:lpstr>
      <vt:lpstr>A Projekt Célja</vt:lpstr>
      <vt:lpstr>Alkalmazott Technológiák</vt:lpstr>
      <vt:lpstr>Adatbázis Architektúra</vt:lpstr>
      <vt:lpstr>Interaktív Felhasználói Élmény (UX)</vt:lpstr>
      <vt:lpstr>PowerPoint-bemutató</vt:lpstr>
      <vt:lpstr>PowerPoint-bemutató</vt:lpstr>
      <vt:lpstr>PowerPoint-bemutató</vt:lpstr>
      <vt:lpstr>Biztonságos Szerveroldali Logika</vt:lpstr>
      <vt:lpstr>A Rendszer Működés Közben</vt:lpstr>
      <vt:lpstr>Továbbfejlesztési Lehetőségek</vt:lpstr>
      <vt:lpstr>Így dolgoztunk együtt</vt:lpstr>
      <vt:lpstr>Introduction and Motivation for the Project</vt:lpstr>
      <vt:lpstr>The purchasing process 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Szegő Domokos</dc:creator>
  <cp:lastModifiedBy>Szegő Domokos</cp:lastModifiedBy>
  <cp:revision>2</cp:revision>
  <dcterms:created xsi:type="dcterms:W3CDTF">2026-09-07T18:31:10Z</dcterms:created>
  <dcterms:modified xsi:type="dcterms:W3CDTF">2026-09-12T12:29:34Z</dcterms:modified>
</cp:coreProperties>
</file>